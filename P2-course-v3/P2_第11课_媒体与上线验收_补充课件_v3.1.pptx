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0a1d6f2f1470c" /><Relationship Type="http://schemas.openxmlformats.org/officeDocument/2006/relationships/extended-properties" Target="/docProps/app.xml" Id="Reea782b10cab4520" /><Relationship Type="http://schemas.openxmlformats.org/officeDocument/2006/relationships/officeDocument" Target="/ppt/presentation.xml" Id="R15f15ee95b5849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43d49f043d4a7a"/>
  </p:sldMasterIdLst>
  <p:notesMasterIdLst>
    <p:notesMasterId xmlns:r="http://schemas.openxmlformats.org/officeDocument/2006/relationships" r:id="R164ca548b87e407e"/>
  </p:notesMasterIdLst>
  <p:sldIdLst>
    <p:sldId xmlns:r="http://schemas.openxmlformats.org/officeDocument/2006/relationships" id="256" r:id="Rfada510d487d4be0"/>
    <p:sldId xmlns:r="http://schemas.openxmlformats.org/officeDocument/2006/relationships" id="257" r:id="Rf1adb85cd9bc4216"/>
    <p:sldId xmlns:r="http://schemas.openxmlformats.org/officeDocument/2006/relationships" id="258" r:id="R1b60468c920d4c8a"/>
    <p:sldId xmlns:r="http://schemas.openxmlformats.org/officeDocument/2006/relationships" id="259" r:id="Rf93592bdde78479b"/>
    <p:sldId xmlns:r="http://schemas.openxmlformats.org/officeDocument/2006/relationships" id="260" r:id="R39f799edbf594671"/>
    <p:sldId xmlns:r="http://schemas.openxmlformats.org/officeDocument/2006/relationships" id="261" r:id="Ra8ddef859bc34e9b"/>
    <p:sldId xmlns:r="http://schemas.openxmlformats.org/officeDocument/2006/relationships" id="262" r:id="R1134a6bbbfe04bd1"/>
    <p:sldId xmlns:r="http://schemas.openxmlformats.org/officeDocument/2006/relationships" id="263" r:id="R73184eebfcfb4d1b"/>
    <p:sldId xmlns:r="http://schemas.openxmlformats.org/officeDocument/2006/relationships" id="264" r:id="Rf1bdc9debee34d35"/>
    <p:sldId xmlns:r="http://schemas.openxmlformats.org/officeDocument/2006/relationships" id="265" r:id="R0609f9ad467c456d"/>
    <p:sldId xmlns:r="http://schemas.openxmlformats.org/officeDocument/2006/relationships" id="266" r:id="R030ca25ffb3b49b0"/>
    <p:sldId xmlns:r="http://schemas.openxmlformats.org/officeDocument/2006/relationships" id="267" r:id="Re447d97fa4bc4a50"/>
    <p:sldId xmlns:r="http://schemas.openxmlformats.org/officeDocument/2006/relationships" id="268" r:id="Rb9038afaf2fc47ef"/>
    <p:sldId xmlns:r="http://schemas.openxmlformats.org/officeDocument/2006/relationships" id="269" r:id="Re78b82c6ff9f4768"/>
    <p:sldId xmlns:r="http://schemas.openxmlformats.org/officeDocument/2006/relationships" id="270" r:id="Re947b7f4f9ca4a52"/>
    <p:sldId xmlns:r="http://schemas.openxmlformats.org/officeDocument/2006/relationships" id="271" r:id="Rbf0033e9db084cf3"/>
    <p:sldId xmlns:r="http://schemas.openxmlformats.org/officeDocument/2006/relationships" id="272" r:id="R881614d54ea34746"/>
    <p:sldId xmlns:r="http://schemas.openxmlformats.org/officeDocument/2006/relationships" id="273" r:id="R13bb44ccaccc46d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cda16a7524b1c" /><Relationship Type="http://schemas.openxmlformats.org/officeDocument/2006/relationships/slideMaster" Target="/ppt/slideMasters/slideMaster1.xml" Id="Ra443d49f043d4a7a" /><Relationship Type="http://schemas.openxmlformats.org/officeDocument/2006/relationships/notesMaster" Target="/ppt/notesMasters/notesMaster1.xml" Id="R164ca548b87e407e" /><Relationship Type="http://schemas.openxmlformats.org/officeDocument/2006/relationships/presProps" Target="/ppt/presProps.xml" Id="R8b20e637788b4fd9" /><Relationship Type="http://schemas.openxmlformats.org/officeDocument/2006/relationships/tableStyles" Target="/ppt/tableStyles.xml" Id="Rf6c387b7c0c448a6" /><Relationship Type="http://schemas.openxmlformats.org/officeDocument/2006/relationships/slide" Target="/ppt/slides/slide1.xml" Id="Rfada510d487d4be0" /><Relationship Type="http://schemas.openxmlformats.org/officeDocument/2006/relationships/slide" Target="/ppt/slides/slide2.xml" Id="Rf1adb85cd9bc4216" /><Relationship Type="http://schemas.openxmlformats.org/officeDocument/2006/relationships/slide" Target="/ppt/slides/slide3.xml" Id="R1b60468c920d4c8a" /><Relationship Type="http://schemas.openxmlformats.org/officeDocument/2006/relationships/slide" Target="/ppt/slides/slide4.xml" Id="Rf93592bdde78479b" /><Relationship Type="http://schemas.openxmlformats.org/officeDocument/2006/relationships/slide" Target="/ppt/slides/slide5.xml" Id="R39f799edbf594671" /><Relationship Type="http://schemas.openxmlformats.org/officeDocument/2006/relationships/slide" Target="/ppt/slides/slide6.xml" Id="Ra8ddef859bc34e9b" /><Relationship Type="http://schemas.openxmlformats.org/officeDocument/2006/relationships/slide" Target="/ppt/slides/slide7.xml" Id="R1134a6bbbfe04bd1" /><Relationship Type="http://schemas.openxmlformats.org/officeDocument/2006/relationships/slide" Target="/ppt/slides/slide8.xml" Id="R73184eebfcfb4d1b" /><Relationship Type="http://schemas.openxmlformats.org/officeDocument/2006/relationships/slide" Target="/ppt/slides/slide9.xml" Id="Rf1bdc9debee34d35" /><Relationship Type="http://schemas.openxmlformats.org/officeDocument/2006/relationships/slide" Target="/ppt/slides/slide10.xml" Id="R0609f9ad467c456d" /><Relationship Type="http://schemas.openxmlformats.org/officeDocument/2006/relationships/slide" Target="/ppt/slides/slide11.xml" Id="R030ca25ffb3b49b0" /><Relationship Type="http://schemas.openxmlformats.org/officeDocument/2006/relationships/slide" Target="/ppt/slides/slide12.xml" Id="Re447d97fa4bc4a50" /><Relationship Type="http://schemas.openxmlformats.org/officeDocument/2006/relationships/slide" Target="/ppt/slides/slide13.xml" Id="Rb9038afaf2fc47ef" /><Relationship Type="http://schemas.openxmlformats.org/officeDocument/2006/relationships/slide" Target="/ppt/slides/slide14.xml" Id="Re78b82c6ff9f4768" /><Relationship Type="http://schemas.openxmlformats.org/officeDocument/2006/relationships/slide" Target="/ppt/slides/slide15.xml" Id="Re947b7f4f9ca4a52" /><Relationship Type="http://schemas.openxmlformats.org/officeDocument/2006/relationships/slide" Target="/ppt/slides/slide16.xml" Id="Rbf0033e9db084cf3" /><Relationship Type="http://schemas.openxmlformats.org/officeDocument/2006/relationships/slide" Target="/ppt/slides/slide17.xml" Id="R881614d54ea34746" /><Relationship Type="http://schemas.openxmlformats.org/officeDocument/2006/relationships/slide" Target="/ppt/slides/slide18.xml" Id="R13bb44ccaccc46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7c6952ec342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90ae9905e4af0" /><Relationship Type="http://schemas.openxmlformats.org/officeDocument/2006/relationships/notesMaster" Target="/ppt/notesMasters/notesMaster1.xml" Id="R01f6484a890a49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d7efc95d1246b9" /><Relationship Type="http://schemas.openxmlformats.org/officeDocument/2006/relationships/notesMaster" Target="/ppt/notesMasters/notesMaster1.xml" Id="R18a38939808e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8ea0e7ee8444d7" /><Relationship Type="http://schemas.openxmlformats.org/officeDocument/2006/relationships/notesMaster" Target="/ppt/notesMasters/notesMaster1.xml" Id="R888f10119e02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b96710475347a0" /><Relationship Type="http://schemas.openxmlformats.org/officeDocument/2006/relationships/notesMaster" Target="/ppt/notesMasters/notesMaster1.xml" Id="Rb20ae2e96b6543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f3e615a9ea4bee" /><Relationship Type="http://schemas.openxmlformats.org/officeDocument/2006/relationships/notesMaster" Target="/ppt/notesMasters/notesMaster1.xml" Id="Rba87fa7b63944e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8005fe88542e9" /><Relationship Type="http://schemas.openxmlformats.org/officeDocument/2006/relationships/notesMaster" Target="/ppt/notesMasters/notesMaster1.xml" Id="R7ea0bde8e75b46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87b9c132a34864" /><Relationship Type="http://schemas.openxmlformats.org/officeDocument/2006/relationships/notesMaster" Target="/ppt/notesMasters/notesMaster1.xml" Id="R2d78ada4e77f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a9808d64ff46d9" /><Relationship Type="http://schemas.openxmlformats.org/officeDocument/2006/relationships/notesMaster" Target="/ppt/notesMasters/notesMaster1.xml" Id="R5535a6ee82bb4b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6da8750a134eb4" /><Relationship Type="http://schemas.openxmlformats.org/officeDocument/2006/relationships/notesMaster" Target="/ppt/notesMasters/notesMaster1.xml" Id="Rd5ee87f88ce94b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7d6f3985a3406e" /><Relationship Type="http://schemas.openxmlformats.org/officeDocument/2006/relationships/notesMaster" Target="/ppt/notesMasters/notesMaster1.xml" Id="Rad9fd8ade660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9f1b6fadba4d90" /><Relationship Type="http://schemas.openxmlformats.org/officeDocument/2006/relationships/notesMaster" Target="/ppt/notesMasters/notesMaster1.xml" Id="R03e23bb221ff4d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71a457c0164db7" /><Relationship Type="http://schemas.openxmlformats.org/officeDocument/2006/relationships/notesMaster" Target="/ppt/notesMasters/notesMaster1.xml" Id="R18abd87e5cd84a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e8a5d66b54400c" /><Relationship Type="http://schemas.openxmlformats.org/officeDocument/2006/relationships/notesMaster" Target="/ppt/notesMasters/notesMaster1.xml" Id="Rdf96122c015148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2ee1c4e5334c80" /><Relationship Type="http://schemas.openxmlformats.org/officeDocument/2006/relationships/notesMaster" Target="/ppt/notesMasters/notesMaster1.xml" Id="R68fef5516d7148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793cf47ed74bd9" /><Relationship Type="http://schemas.openxmlformats.org/officeDocument/2006/relationships/notesMaster" Target="/ppt/notesMasters/notesMaster1.xml" Id="R29734a4a471744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a9f5e2225f4b8a" /><Relationship Type="http://schemas.openxmlformats.org/officeDocument/2006/relationships/notesMaster" Target="/ppt/notesMasters/notesMaster1.xml" Id="R152b46eb6e9040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80d473acea40e4" /><Relationship Type="http://schemas.openxmlformats.org/officeDocument/2006/relationships/notesMaster" Target="/ppt/notesMasters/notesMaster1.xml" Id="R804142dd9d154a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d0b292d88c4f9b" /><Relationship Type="http://schemas.openxmlformats.org/officeDocument/2006/relationships/notesMaster" Target="/ppt/notesMasters/notesMaster1.xml" Id="Rff8dea63728c45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【本页内容】图片、音乐、视频，以及真实数据的保存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【成功标志】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2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【操作平台】教师课堂安排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【教师讲法】本补充课件插入原五次课主线。保持原项目完整，不在一节课讲完全部媒体知识。基础先讲标签、资源路径和响应式。上传和PostgreSQL属于教师演示或选做。</a:t>
            </a:r>
          </a:p>
          <a:p xmlns:a="http://schemas.openxmlformats.org/drawingml/2006/main">
            <a:r>
              <a:t>【本页内容】第7次：图片标签与组件，音视频任选一项</a:t>
            </a:r>
          </a:p>
          <a:p xmlns:a="http://schemas.openxmlformats.org/drawingml/2006/main">
            <a:r>
              <a:t>第8次：表单中的媒体字段与插入位置</a:t>
            </a:r>
          </a:p>
          <a:p xmlns:a="http://schemas.openxmlformats.org/drawingml/2006/main">
            <a:r>
              <a:t>第9次：媒体HTTP请求，上传由教师演示</a:t>
            </a:r>
          </a:p>
          <a:p xmlns:a="http://schemas.openxmlformats.org/drawingml/2006/main">
            <a:r>
              <a:t>第10次：媒体地址入库，文件独立保存</a:t>
            </a:r>
          </a:p>
          <a:p xmlns:a="http://schemas.openxmlformats.org/drawingml/2006/main">
            <a:r>
              <a:t>第11次：权限、重启保存、Git与部署验收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【成功标志】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3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【操作平台】浏览器 / VS Code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【本页内容】任务一：让文章在指定段落后显示图片</a:t>
            </a:r>
          </a:p>
          <a:p xmlns:a="http://schemas.openxmlformats.org/drawingml/2006/main">
            <a:r>
              <a:t>任务二：选择音频或视频，加入可操作播放器</a:t>
            </a:r>
          </a:p>
          <a:p xmlns:a="http://schemas.openxmlformats.org/drawingml/2006/main">
            <a:r>
              <a:t>基础讲解与演示20分钟，学生操作至少45分钟</a:t>
            </a:r>
          </a:p>
          <a:p xmlns:a="http://schemas.openxmlformats.org/drawingml/2006/main">
            <a:r>
              <a:t>完成后刷新、检查手机宽度，并提交Git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【成功标志】能够解释src、alt、controls分别做什么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4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【当前位置】先进入自己选定的开发目录</a:t>
            </a:r>
          </a:p>
          <a:p xmlns:a="http://schemas.openxmlformats.org/drawingml/2006/main">
            <a:r>
              <a:t>【教师讲法】CMD跨盘符使用cd /d E:\；PowerShell使用Set-Location E:\。领取到自己的本机副本后再进入complete。练习模板media-starter与complete相邻，教师可让学生进入media-starter，按第8—10页补完标签。</a:t>
            </a:r>
          </a:p>
          <a:p xmlns:a="http://schemas.openxmlformats.org/drawingml/2006/main">
            <a:r>
              <a:t>【本页内容】先打开CMD或PowerShell。命令逐行运行。</a:t>
            </a:r>
          </a:p>
          <a:p xmlns:a="http://schemas.openxmlformats.org/drawingml/2006/main">
            <a:r>
              <a:t>clone下载指定开发分支，最后一行进入完整工程。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git clone --branch p2-course-v3 --single-branch https://github.com/02-gdit-ffd-20260818/ffd-student-course-kit.git p2-course-work</a:t>
            </a:r>
          </a:p>
          <a:p xmlns:a="http://schemas.openxmlformats.org/drawingml/2006/main">
            <a:r>
              <a:t>cd p2-course-work/P2-course-v3/complete</a:t>
            </a:r>
          </a:p>
          <a:p xmlns:a="http://schemas.openxmlformats.org/drawingml/2006/main">
            <a:r>
              <a:t>【成功标志】目录中能看到package.json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5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【本页内容】install安装依赖，setup:course创建本机.env。</a:t>
            </a:r>
          </a:p>
          <a:p xmlns:a="http://schemas.openxmlformats.org/drawingml/2006/main">
            <a:r>
              <a:t>首次启动接口自动建库，不需要删除现有数据库。</a:t>
            </a:r>
          </a:p>
          <a:p xmlns:a="http://schemas.openxmlformats.org/drawingml/2006/main">
            <a:r>
              <a:t>teacher密码在自己的.env中，不上传Git。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npm.cmd install</a:t>
            </a:r>
          </a:p>
          <a:p xmlns:a="http://schemas.openxmlformats.org/drawingml/2006/main">
            <a:r>
              <a:t>npm.cmd run setup:course</a:t>
            </a:r>
          </a:p>
          <a:p xmlns:a="http://schemas.openxmlformats.org/drawingml/2006/main">
            <a:r>
              <a:t>【成功标志】提示已创建.env或保留原配置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6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【教师讲法】VS Code菜单终端→新建终端，两次打开。每个终端都进入complete或media-starter目录。只分别复制npm命令，不把说明行复制到CMD。终端A监听3000，终端B监听5173；只有一个启动成功时，页面或接口仍然可能不可用。</a:t>
            </a:r>
          </a:p>
          <a:p xmlns:a="http://schemas.openxmlformats.org/drawingml/2006/main">
            <a:r>
              <a:t>【本页内容】终端A：接口与数据库，保持运行。</a:t>
            </a:r>
          </a:p>
          <a:p xmlns:a="http://schemas.openxmlformats.org/drawingml/2006/main">
            <a:r>
              <a:t>终端B：前端与热更新，保持运行。</a:t>
            </a:r>
          </a:p>
          <a:p xmlns:a="http://schemas.openxmlformats.org/drawingml/2006/main">
            <a:r>
              <a:t>浏览器打开http://127.0.0.1:5173。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npm.cmd run start:api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上面在终端A；下面在终端B。CMD不复制这行说明。</a:t>
            </a:r>
          </a:p>
          <a:p xmlns:a="http://schemas.openxmlformats.org/drawingml/2006/main">
            <a:r>
              <a:t>npm.cmd run dev</a:t>
            </a:r>
          </a:p>
          <a:p xmlns:a="http://schemas.openxmlformats.org/drawingml/2006/main">
            <a:r>
              <a:t>【成功标志】两个窗口各自持续显示运行状态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7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【操作平台】VS Code / 浏览器</a:t>
            </a:r>
          </a:p>
          <a:p xmlns:a="http://schemas.openxmlformats.org/drawingml/2006/main">
            <a:r>
              <a:t>【当前位置】public/media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【本页内容】三个文件均随工程提供，课堂不需要寻找外链。</a:t>
            </a:r>
          </a:p>
          <a:p xmlns:a="http://schemas.openxmlformats.org/drawingml/2006/main">
            <a:r>
              <a:t>地址从public之后开始写，不能带public前缀。</a:t>
            </a:r>
          </a:p>
          <a:p xmlns:a="http://schemas.openxmlformats.org/drawingml/2006/main">
            <a:r>
              <a:t>数据库记录媒体地址，媒体文件独立保存。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/media/course-diagram.png</a:t>
            </a:r>
          </a:p>
          <a:p xmlns:a="http://schemas.openxmlformats.org/drawingml/2006/main">
            <a:r>
              <a:t>/media/learning-notes.wav</a:t>
            </a:r>
          </a:p>
          <a:p xmlns:a="http://schemas.openxmlformats.org/drawingml/2006/main">
            <a:r>
              <a:t>/media/comment-flow.mp4</a:t>
            </a:r>
          </a:p>
          <a:p xmlns:a="http://schemas.openxmlformats.org/drawingml/2006/main">
            <a:r>
              <a:t>【成功标志】浏览器单独打开文件，能够显示或播放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8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【操作平台】Vue模板 / HTML5</a:t>
            </a:r>
          </a:p>
          <a:p xmlns:a="http://schemas.openxmlformats.org/drawingml/2006/main">
            <a:r>
              <a:t>【当前位置】src/components/ArticleMedia.vue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【本页内容】打开src/components/ArticleMedia.vue。</a:t>
            </a:r>
          </a:p>
          <a:p xmlns:a="http://schemas.openxmlformats.org/drawingml/2006/main">
            <a:r>
              <a:t>src是资源地址，alt说明图片内容。</a:t>
            </a:r>
          </a:p>
          <a:p xmlns:a="http://schemas.openxmlformats.org/drawingml/2006/main">
            <a:r>
              <a:t>loading="lazy"延迟加载不在当前视野的图片。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&lt;img v-if="item.type === 'image'"</a:t>
            </a:r>
          </a:p>
          <a:p xmlns:a="http://schemas.openxmlformats.org/drawingml/2006/main">
            <a:r>
              <a:t>     :src="item.url"</a:t>
            </a:r>
          </a:p>
          <a:p xmlns:a="http://schemas.openxmlformats.org/drawingml/2006/main">
            <a:r>
              <a:t>     :alt="item.alt"</a:t>
            </a:r>
          </a:p>
          <a:p xmlns:a="http://schemas.openxmlformats.org/drawingml/2006/main">
            <a:r>
              <a:t>     loading="lazy" /&gt;</a:t>
            </a:r>
          </a:p>
          <a:p xmlns:a="http://schemas.openxmlformats.org/drawingml/2006/main">
            <a:r>
              <a:t>【成功标志】图片显示，缩窄窗口后不溢出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9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【操作平台】Vue模板 / HTML5</a:t>
            </a:r>
          </a:p>
          <a:p xmlns:a="http://schemas.openxmlformats.org/drawingml/2006/main">
            <a:r>
              <a:t>【当前位置】src/components/ArticleMedia.vue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【本页内容】controls使用浏览器原生播放器。</a:t>
            </a:r>
          </a:p>
          <a:p xmlns:a="http://schemas.openxmlformats.org/drawingml/2006/main">
            <a:r>
              <a:t>preload只先读取元数据，用户主动点击播放。</a:t>
            </a:r>
          </a:p>
          <a:p xmlns:a="http://schemas.openxmlformats.org/drawingml/2006/main">
            <a:r>
              <a:t>音频可以是音乐，也可以是课程讲解录音。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&lt;audio v-if="item.type === 'audio'"</a:t>
            </a:r>
          </a:p>
          <a:p xmlns:a="http://schemas.openxmlformats.org/drawingml/2006/main">
            <a:r>
              <a:t>       :src="item.url"</a:t>
            </a:r>
          </a:p>
          <a:p xmlns:a="http://schemas.openxmlformats.org/drawingml/2006/main">
            <a:r>
              <a:t>       controls</a:t>
            </a:r>
          </a:p>
          <a:p xmlns:a="http://schemas.openxmlformats.org/drawingml/2006/main">
            <a:r>
              <a:t>       preload="metadata" /&gt;</a:t>
            </a:r>
          </a:p>
          <a:p xmlns:a="http://schemas.openxmlformats.org/drawingml/2006/main">
            <a:r>
              <a:t>【成功标志】点击播放与暂停，播放器有时长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10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【操作平台】Vue模板 / HTML5</a:t>
            </a:r>
          </a:p>
          <a:p xmlns:a="http://schemas.openxmlformats.org/drawingml/2006/main">
            <a:r>
              <a:t>【当前位置】src/components/ArticleMedia.vue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【本页内容】playsinline使手机尽量在页面内播放。</a:t>
            </a:r>
          </a:p>
          <a:p xmlns:a="http://schemas.openxmlformats.org/drawingml/2006/main">
            <a:r>
              <a:t>示例为6秒无声演示，文字说明保留学习内容。</a:t>
            </a:r>
          </a:p>
          <a:p xmlns:a="http://schemas.openxmlformats.org/drawingml/2006/main">
            <a:r>
              <a:t>常用MP4/H.264，不能只改后缀冒充格式。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&lt;video v-if="item.type === 'video'"</a:t>
            </a:r>
          </a:p>
          <a:p xmlns:a="http://schemas.openxmlformats.org/drawingml/2006/main">
            <a:r>
              <a:t>       :src="item.url"</a:t>
            </a:r>
          </a:p>
          <a:p xmlns:a="http://schemas.openxmlformats.org/drawingml/2006/main">
            <a:r>
              <a:t>       controls playsinline</a:t>
            </a:r>
          </a:p>
          <a:p xmlns:a="http://schemas.openxmlformats.org/drawingml/2006/main">
            <a:r>
              <a:t>       preload="metadata" /&gt;</a:t>
            </a:r>
          </a:p>
          <a:p xmlns:a="http://schemas.openxmlformats.org/drawingml/2006/main">
            <a:r>
              <a:t>【成功标志】可播放、暂停和拖动进度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11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【操作平台】CSS3</a:t>
            </a:r>
          </a:p>
          <a:p xmlns:a="http://schemas.openxmlformats.org/drawingml/2006/main">
            <a:r>
              <a:t>【当前位置】src/course.css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【本页内容】图片与视频宽度跟随文章区域。</a:t>
            </a:r>
          </a:p>
          <a:p xmlns:a="http://schemas.openxmlformats.org/drawingml/2006/main">
            <a:r>
              <a:t>object-fit保持比例，限制最大高度。</a:t>
            </a:r>
          </a:p>
          <a:p xmlns:a="http://schemas.openxmlformats.org/drawingml/2006/main">
            <a:r>
              <a:t>音频播放器同样适应手机宽度。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.article-media img, .article-media video {</a:t>
            </a:r>
          </a:p>
          <a:p xmlns:a="http://schemas.openxmlformats.org/drawingml/2006/main">
            <a:r>
              <a:t>  width: 100%;</a:t>
            </a:r>
          </a:p>
          <a:p xmlns:a="http://schemas.openxmlformats.org/drawingml/2006/main">
            <a:r>
              <a:t>  max-height: 540px;</a:t>
            </a:r>
          </a:p>
          <a:p xmlns:a="http://schemas.openxmlformats.org/drawingml/2006/main">
            <a:r>
              <a:t>  object-fit: contain;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.article-media audio { width: 100%; }</a:t>
            </a:r>
          </a:p>
          <a:p xmlns:a="http://schemas.openxmlformats.org/drawingml/2006/main">
            <a:r>
              <a:t>【成功标志】390像素宽度不出现横向滚动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12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【操作平台】浏览器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【教师讲法】先说明本页目标，演示一次，然后让学生操作并检查结果。</a:t>
            </a:r>
          </a:p>
          <a:p xmlns:a="http://schemas.openxmlformats.org/drawingml/2006/main">
            <a:r>
              <a:t>【本页内容】teacher登录后打开管理，编辑文章</a:t>
            </a:r>
          </a:p>
          <a:p xmlns:a="http://schemas.openxmlformats.org/drawingml/2006/main">
            <a:r>
              <a:t>添加媒体，选择类型并填写资源地址</a:t>
            </a:r>
          </a:p>
          <a:p xmlns:a="http://schemas.openxmlformats.org/drawingml/2006/main">
            <a:r>
              <a:t>图片填写替代文字，填写媒体说明</a:t>
            </a:r>
          </a:p>
          <a:p xmlns:a="http://schemas.openxmlformats.org/drawingml/2006/main">
            <a:r>
              <a:t>插在第几段之后，留空则放到文章末尾</a:t>
            </a:r>
          </a:p>
          <a:p xmlns:a="http://schemas.openxmlformats.org/drawingml/2006/main">
            <a:r>
              <a:t>保存后打开详情检查，正文空行分段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【成功标志】刷新后仍显示相同媒体与位置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13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【操作平台】浏览器 / Node接口</a:t>
            </a:r>
          </a:p>
          <a:p xmlns:a="http://schemas.openxmlformats.org/drawingml/2006/main">
            <a:r>
              <a:t>【当前位置】server/media-upload.js</a:t>
            </a:r>
          </a:p>
          <a:p xmlns:a="http://schemas.openxmlformats.org/drawingml/2006/main">
            <a:r>
              <a:t>【教师讲法】上传不是基础课必做任务。先用随附静态资源完成三种标签，再解释FormData与multipart/form-data。当前持久化上传适用于Windows及Ubuntu SQLite部署；在线PostgreSQL函数环境尚未配置文件存储时会明确拒绝上传，不把临时文件当作已保存。</a:t>
            </a:r>
          </a:p>
          <a:p xmlns:a="http://schemas.openxmlformats.org/drawingml/2006/main">
            <a:r>
              <a:t>【本页内容】编辑文章中选择文件，上传后自动填写资源地址</a:t>
            </a:r>
          </a:p>
          <a:p xmlns:a="http://schemas.openxmlformats.org/drawingml/2006/main">
            <a:r>
              <a:t>普通读者没有上传权限，教师身份由后端验证</a:t>
            </a:r>
          </a:p>
          <a:p xmlns:a="http://schemas.openxmlformats.org/drawingml/2006/main">
            <a:r>
              <a:t>单文件最多40MB，服务器检查声明类型和文件头</a:t>
            </a:r>
          </a:p>
          <a:p xmlns:a="http://schemas.openxmlformats.org/drawingml/2006/main">
            <a:r>
              <a:t>上传文件保存在var/media，不放入Git仓库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【成功标志】上传成功后显示/media/uploads/…地址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14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【当前位置】工程根目录</a:t>
            </a:r>
          </a:p>
          <a:p xmlns:a="http://schemas.openxmlformats.org/drawingml/2006/main">
            <a:r>
              <a:t>【教师讲法】media_json是为了控制课堂难度保留的简单结构。先把用户、文章、评论的关系型建模讲清楚。备份同时保存SQLite快照、上传媒体和本机.env，备份目录不要上传Git。</a:t>
            </a:r>
          </a:p>
          <a:p xmlns:a="http://schemas.openxmlformats.org/drawingml/2006/main">
            <a:r>
              <a:t>【本页内容】course_articles.media_json记录类型、地址和说明</a:t>
            </a:r>
          </a:p>
          <a:p xmlns:a="http://schemas.openxmlformats.org/drawingml/2006/main">
            <a:r>
              <a:t>course_comments仍通过外键关联文章与用户</a:t>
            </a:r>
          </a:p>
          <a:p xmlns:a="http://schemas.openxmlformats.org/drawingml/2006/main">
            <a:r>
              <a:t>升级时只新增缺少的列，保留已有用户和评论</a:t>
            </a:r>
          </a:p>
          <a:p xmlns:a="http://schemas.openxmlformats.org/drawingml/2006/main">
            <a:r>
              <a:t>检查真实数据库，再做一致性备份。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npm.cmd run db:inspect</a:t>
            </a:r>
          </a:p>
          <a:p xmlns:a="http://schemas.openxmlformats.org/drawingml/2006/main">
            <a:r>
              <a:t>npm.cmd run db:backup</a:t>
            </a:r>
          </a:p>
          <a:p xmlns:a="http://schemas.openxmlformats.org/drawingml/2006/main">
            <a:r>
              <a:t>【成功标志】看到三表结构与记录数，备份完整性检查通过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15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</a:t>
            </a:r>
          </a:p>
          <a:p xmlns:a="http://schemas.openxmlformats.org/drawingml/2006/main">
            <a:r>
              <a:t>【当前位置】完整工程目录；两个服务运行中</a:t>
            </a:r>
          </a:p>
          <a:p xmlns:a="http://schemas.openxmlformats.org/drawingml/2006/main">
            <a:r>
              <a:t>【教师讲法】PowerShell用$env:LIVE_BASE="http://127.0.0.1:5173"替代set。不能在只读页面预览上运行该验收并声称完整上线。脚本严格检查接口返回JSON、媒体类型、视频206范围请求；验收记录放在var且不提交。</a:t>
            </a:r>
          </a:p>
          <a:p xmlns:a="http://schemas.openxmlformats.org/drawingml/2006/main">
            <a:r>
              <a:t>【本页内容】verify:live读取LIVE_BASE指定的完整网站。</a:t>
            </a:r>
          </a:p>
          <a:p xmlns:a="http://schemas.openxmlformats.org/drawingml/2006/main">
            <a:r>
              <a:t>默认访问本机3000接口，完整媒体验收需前端同源网址。</a:t>
            </a:r>
          </a:p>
          <a:p xmlns:a="http://schemas.openxmlformats.org/drawingml/2006/main">
            <a:r>
              <a:t>本机前端为5173时，用对应终端设置LIVE_BASE。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set LIVE_BASE=http://127.0.0.1:5173</a:t>
            </a:r>
          </a:p>
          <a:p xmlns:a="http://schemas.openxmlformats.org/drawingml/2006/main">
            <a:r>
              <a:t>npm.cmd run verify:live -- before</a:t>
            </a:r>
          </a:p>
          <a:p xmlns:a="http://schemas.openxmlformats.org/drawingml/2006/main">
            <a:r>
              <a:t>【成功标志】注册、评论、越权和媒体检查通过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16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【教师讲法】all参数只能证明即时往返，不能代替重启。远程验收使用同一HTTPS网址，在before和after之间通过SSH重启本项目独立服务，不能重启其他课程服务。</a:t>
            </a:r>
          </a:p>
          <a:p xmlns:a="http://schemas.openxmlformats.org/drawingml/2006/main">
            <a:r>
              <a:t>【本页内容】终端A按Ctrl+C停止，再执行npm.cmd run start:api</a:t>
            </a:r>
          </a:p>
          <a:p xmlns:a="http://schemas.openxmlformats.org/drawingml/2006/main">
            <a:r>
              <a:t>前端终端保持运行，回到第三个验收终端</a:t>
            </a:r>
          </a:p>
          <a:p xmlns:a="http://schemas.openxmlformats.org/drawingml/2006/main">
            <a:r>
              <a:t>after读取重启前的同一条评论并检查，再清理本人留言</a:t>
            </a:r>
          </a:p>
          <a:p xmlns:a="http://schemas.openxmlformats.org/drawingml/2006/main">
            <a:r>
              <a:t>先执行before，再实际重启，最后执行after。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npm.cmd run verify:live -- after</a:t>
            </a:r>
          </a:p>
          <a:p xmlns:a="http://schemas.openxmlformats.org/drawingml/2006/main">
            <a:r>
              <a:t>【成功标志】原评论仍然存在，能够由本人删除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17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【操作平台】Ubuntu Bash</a:t>
            </a:r>
          </a:p>
          <a:p xmlns:a="http://schemas.openxmlformats.org/drawingml/2006/main">
            <a:r>
              <a:t>【当前位置】已按Ubuntu-deploy.md部署的新项目目录</a:t>
            </a:r>
          </a:p>
          <a:p xmlns:a="http://schemas.openxmlformats.org/drawingml/2006/main">
            <a:r>
              <a:t>【教师讲法】这些是部署后验收命令，不是把未配置好的服务器一键变成可用网站。当前远程SSH尚未恢复，新服务未部署；课堂展示可用本机完整工程和公开媒体页面。既有Netlify账号未启用信用额度方案，不支持当前Netlify Database，禁止无验证地切换数据库线路。</a:t>
            </a:r>
          </a:p>
          <a:p xmlns:a="http://schemas.openxmlformats.org/drawingml/2006/main">
            <a:r>
              <a:t>【本页内容】下面命令在服务器工程目录运行。</a:t>
            </a:r>
          </a:p>
          <a:p xmlns:a="http://schemas.openxmlformats.org/drawingml/2006/main">
            <a:r>
              <a:t>先完成SSH连通、Node24、Nginx和独立服务配置。</a:t>
            </a:r>
          </a:p>
          <a:p xmlns:a="http://schemas.openxmlformats.org/drawingml/2006/main">
            <a:r>
              <a:t>验收新网站，不能把旧接口可访问当作新版已部署。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npm install</a:t>
            </a:r>
          </a:p>
          <a:p xmlns:a="http://schemas.openxmlformats.org/drawingml/2006/main">
            <a:r>
              <a:t>npm run setup:course</a:t>
            </a:r>
          </a:p>
          <a:p xmlns:a="http://schemas.openxmlformats.org/drawingml/2006/main">
            <a:r>
              <a:t>npm run build</a:t>
            </a:r>
          </a:p>
          <a:p xmlns:a="http://schemas.openxmlformats.org/drawingml/2006/main">
            <a:r>
              <a:t>LIVE_BASE=https://你的新域名 npm run verify:live -- before</a:t>
            </a:r>
          </a:p>
          <a:p xmlns:a="http://schemas.openxmlformats.org/drawingml/2006/main">
            <a:r>
              <a:t>sudo systemctl restart p2-course-v3</a:t>
            </a:r>
          </a:p>
          <a:p xmlns:a="http://schemas.openxmlformats.org/drawingml/2006/main">
            <a:r>
              <a:t>LIVE_BASE=https://你的新域名 npm run verify:live -- after</a:t>
            </a:r>
          </a:p>
          <a:p xmlns:a="http://schemas.openxmlformats.org/drawingml/2006/main">
            <a:r>
              <a:t>【成功标志】HTTPS访问、权限、媒体与重启保存均通过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18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【操作平台】Windows CMD / PowerShell</a:t>
            </a:r>
          </a:p>
          <a:p xmlns:a="http://schemas.openxmlformats.org/drawingml/2006/main">
            <a:r>
              <a:t>【当前位置】P2-course-v3/complete</a:t>
            </a:r>
          </a:p>
          <a:p xmlns:a="http://schemas.openxmlformats.org/drawingml/2006/main">
            <a:r>
              <a:t>【教师讲法】首次远程设置参照合并Windows实操手册。保留课程来源course，origin指向自己的仓库。课堂交付包含可演示成品、修改记录，以及图片和播放器验收结果。</a:t>
            </a:r>
          </a:p>
          <a:p xmlns:a="http://schemas.openxmlformats.org/drawingml/2006/main">
            <a:r>
              <a:t>【本页内容】先确认origin是自己的空仓库。</a:t>
            </a:r>
          </a:p>
          <a:p xmlns:a="http://schemas.openxmlformats.org/drawingml/2006/main">
            <a:r>
              <a:t>status检查文件，add暂存，commit建立版本，push上传。</a:t>
            </a:r>
          </a:p>
          <a:p xmlns:a="http://schemas.openxmlformats.org/drawingml/2006/main">
            <a:r>
              <a:t>不要提交.env、var、node_modules或dist。</a:t>
            </a:r>
          </a:p>
          <a:p xmlns:a="http://schemas.openxmlformats.org/drawingml/2006/main">
            <a:r>
              <a:t>【代码】</a:t>
            </a:r>
          </a:p>
          <a:p xmlns:a="http://schemas.openxmlformats.org/drawingml/2006/main">
            <a:r>
              <a:t>git status</a:t>
            </a:r>
          </a:p>
          <a:p xmlns:a="http://schemas.openxmlformats.org/drawingml/2006/main">
            <a:r>
              <a:t>git add .</a:t>
            </a:r>
          </a:p>
          <a:p xmlns:a="http://schemas.openxmlformats.org/drawingml/2006/main">
            <a:r>
              <a:t>git diff --cached --stat</a:t>
            </a:r>
          </a:p>
          <a:p xmlns:a="http://schemas.openxmlformats.org/drawingml/2006/main">
            <a:r>
              <a:t>git commit -m "feat: add article media"</a:t>
            </a:r>
          </a:p>
          <a:p xmlns:a="http://schemas.openxmlformats.org/drawingml/2006/main">
            <a:r>
              <a:t>git push -u origin HEAD</a:t>
            </a:r>
          </a:p>
          <a:p xmlns:a="http://schemas.openxmlformats.org/drawingml/2006/main">
            <a:r>
              <a:t>【成功标志】自己的远程仓库能看到本次修改</a:t>
            </a:r>
          </a:p>
          <a:p xmlns:a="http://schemas.openxmlformats.org/drawingml/2006/main">
            <a:r>
              <a:t>【排错】</a:t>
            </a:r>
          </a:p>
          <a:p xmlns:a="http://schemas.openxmlformats.org/drawingml/2006/main">
            <a:r>
              <a:t>【课堂返回】完成后回到第 18 页</a:t>
            </a:r>
          </a:p>
          <a:p xmlns:a="http://schemas.openxmlformats.org/drawingml/2006/main">
            <a:r>
              <a:t>本课实操手册和任务单按相同页码编排。正常路线持续修改自己的工程，不覆盖个人资料。</a:t>
            </a:r>
          </a:p>
          <a:p xmlns:a="http://schemas.openxmlformats.org/drawingml/2006/main">
            <a:r>
              <a:t>资源版本：p2-course-v3 / v3.1媒体开发版；制作日期：2026-09-18。</a:t>
            </a:r>
          </a:p>
          <a:p xmlns:a="http://schemas.openxmlformats.org/drawingml/2006/main">
            <a:r>
              <a:t>参考：GitHub Pages https://docs.github.com/en/pages/getting-started-with-github-pages/configuring-a-publishing-source-for-your-github-pages-site ；Vue https://vuejs.org/guide/quick-start.html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c046e6e2e41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a802358b443bb" /><Relationship Type="http://schemas.openxmlformats.org/officeDocument/2006/relationships/slideLayout" Target="/ppt/slideLayouts/slideLayout1.xml" Id="R4e1545ce5d65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1545ce5d65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346b5d4fb4403" /><Relationship Type="http://schemas.openxmlformats.org/officeDocument/2006/relationships/notesSlide" Target="/ppt/notesSlides/notesSlide1.xml" Id="Rae83c656c7cc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f1b7251e048ac" /><Relationship Type="http://schemas.openxmlformats.org/officeDocument/2006/relationships/notesSlide" Target="/ppt/notesSlides/notesSlide2.xml" Id="Ra06007ee7cf841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92ea4b63e47ea" /><Relationship Type="http://schemas.openxmlformats.org/officeDocument/2006/relationships/notesSlide" Target="/ppt/notesSlides/notesSlide3.xml" Id="R9209fbd764ea4d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086912b4a4b56" /><Relationship Type="http://schemas.openxmlformats.org/officeDocument/2006/relationships/notesSlide" Target="/ppt/notesSlides/notesSlide4.xml" Id="R3a1ae7bd8ede40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1d8e946cf48fd" /><Relationship Type="http://schemas.openxmlformats.org/officeDocument/2006/relationships/notesSlide" Target="/ppt/notesSlides/notesSlide5.xml" Id="R455bc21790dc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3e123a7584c5e" /><Relationship Type="http://schemas.openxmlformats.org/officeDocument/2006/relationships/notesSlide" Target="/ppt/notesSlides/notesSlide6.xml" Id="R72adba08b15349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e142d9cec4983" /><Relationship Type="http://schemas.openxmlformats.org/officeDocument/2006/relationships/notesSlide" Target="/ppt/notesSlides/notesSlide7.xml" Id="Rd9ad02b309e342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e990c216a49d7" /><Relationship Type="http://schemas.openxmlformats.org/officeDocument/2006/relationships/notesSlide" Target="/ppt/notesSlides/notesSlide8.xml" Id="R8e5fceeb15ac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3940fe8f74d7b" /><Relationship Type="http://schemas.openxmlformats.org/officeDocument/2006/relationships/notesSlide" Target="/ppt/notesSlides/notesSlide9.xml" Id="R7f29424ba68f45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baa80dbe64968" /><Relationship Type="http://schemas.openxmlformats.org/officeDocument/2006/relationships/notesSlide" Target="/ppt/notesSlides/notesSlide10.xml" Id="R6ee79cafadd24f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f80868dcf4fc6" /><Relationship Type="http://schemas.openxmlformats.org/officeDocument/2006/relationships/notesSlide" Target="/ppt/notesSlides/notesSlide11.xml" Id="R83b74033c36345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9e81044ae4715" /><Relationship Type="http://schemas.openxmlformats.org/officeDocument/2006/relationships/notesSlide" Target="/ppt/notesSlides/notesSlide12.xml" Id="R362721f5a02447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e3dfc5bb84eec" /><Relationship Type="http://schemas.openxmlformats.org/officeDocument/2006/relationships/notesSlide" Target="/ppt/notesSlides/notesSlide13.xml" Id="R9574e31743f34b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274ffe1ed4795" /><Relationship Type="http://schemas.openxmlformats.org/officeDocument/2006/relationships/notesSlide" Target="/ppt/notesSlides/notesSlide14.xml" Id="Re78d82aa8de64e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86d56c88e43d9" /><Relationship Type="http://schemas.openxmlformats.org/officeDocument/2006/relationships/notesSlide" Target="/ppt/notesSlides/notesSlide15.xml" Id="Rc7b15c5253a04d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0de48205a4a1b" /><Relationship Type="http://schemas.openxmlformats.org/officeDocument/2006/relationships/notesSlide" Target="/ppt/notesSlides/notesSlide16.xml" Id="R9d1623b58f524b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f1b7a248407c" /><Relationship Type="http://schemas.openxmlformats.org/officeDocument/2006/relationships/notesSlide" Target="/ppt/notesSlides/notesSlide17.xml" Id="Rc78df925615442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6bf25e4134684" /><Relationship Type="http://schemas.openxmlformats.org/officeDocument/2006/relationships/notesSlide" Target="/ppt/notesSlides/notesSlide18.xml" Id="R4ace2ae70bd8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99316-3192-4E16-8678-DF3F8DE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48295-BF44-4602-AC96-BE573292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文章媒体与上线验收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D2843-8204-4FCA-9638-FC6B994C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3716000" cy="744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课程博客媒体与验收 · 完整工程中的两项核心任务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E81E-3481-4BC7-8440-D369738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371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HTML5 媒体 · 资源路径 · SQL · 功能验收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EBE21-D7F1-44B0-B776-3DF8F2AC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716000" cy="51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配合第7—11次课使用，先完成两项媒体任务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F87DE-83D3-4014-AAA4-D0FB4E00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3716000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公开媒体页面预览；完整功能在本机工程验证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4143C-604A-4668-BC49-9EEE799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137160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https://ffd-p2-course-v3-20260918.netlify.app/stage-11/articles/html5-media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0C7C8-6CBD-4507-BBC2-5980EF8B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2 页    ·    长命令如自动折行，请从配套手册复制完整一行。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B2486-5332-49A0-BB10-0E10C15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878319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D1223-7A90-4B4E-B13D-FECC6A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174B4-E91B-4D6B-B959-D4519D5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媒体内容在五次课中的位置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FA414-6839-4943-A3E9-C3061FC5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第7次：图片标签与组件，音视频任选一项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C5166-34F7-4CEC-A4E8-EFA061CB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4623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第8次：表单中的媒体字段与插入位置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7173F-97BF-491D-8775-7D6976F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6620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第9次：媒体HTTP请求，上传由教师演示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0C271-C1FD-4E38-BD93-F5FCA7E3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8617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第10次：媒体地址入库，文件独立保存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32A2D-3B87-444C-9F5C-DA1BD93B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0615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第11次：权限、重启保存、Git与部署验收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2CF19-78CC-40BE-90D6-F880C490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3 页    ·    长命令如自动折行，请从配套手册复制完整一行。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B1A67-CBDF-46D0-9D5D-79671447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896585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654B7-1AA7-4D97-9AC8-25684845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69014-C9CA-4B4C-B37A-AD59CF12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本次练习的两项核心任务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8D792-DE78-4BBE-86B0-CE78E5CE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任务一：让文章在指定段落后显示图片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CF637-6237-499A-B922-561BCC9C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4623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任务二：选择音频或视频，加入可操作播放器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26B6C-557D-4B90-9211-014BA832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6620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基础讲解与演示20分钟，学生操作至少45分钟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05BC9-0A99-4CE0-952C-4CD48A67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8617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完成后刷新、检查手机宽度，并提交Git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4F7A1-3C34-411C-81ED-2B94470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检查：能够解释src、alt、controls分别做什么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999C4-8CCF-4EBE-9BD4-1DCA0BA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4 页    ·    长命令如自动折行，请从配套手册复制完整一行。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134DA-0AB4-44D2-92D6-77BDBA95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210297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35131-7B20-463D-B4CF-3A772435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0F95A-87F2-4F7E-9833-56295BAB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领取新版工程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D4DAB-8DAB-4A60-B826-BAFD50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/ PowerShell    ｜    位置：先进入自己选定的开发目录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0C821-4521-4EED-867B-6ADFA58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808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先打开CMD或PowerShell。命令逐行运行。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clone下载指定开发分支，最后一行进入完整工程。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B2391-3CDC-4BF6-B427-8531A91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2332"/>
            <a:ext cx="1348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 clone --branch p2-course-v3 --single-branch https://github.com/02-gdit-ffd-20260818/ffd-student-course-kit.git p2-course-work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cd p2-course-work/P2-course-v3/complete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468F8-DC85-48B1-8811-5103A095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检查：目录中能看到package.json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8449D-8DD5-41B8-94E1-E6E11B2F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5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5EBEF-A777-421E-86FB-7870D04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696741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F10A9-40FF-4465-871A-0527550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A353A-0E80-494B-B3A0-58CA40F1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安装与本机配置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B0683-C9DE-4770-938B-68F70867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/ PowerShell    ｜    位置：P2-course-v3/complete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C2D45-117F-4AB6-A949-68C297D1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install安装依赖，setup:course创建本机.env。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首次启动接口自动建库，不需要删除现有数据库。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teacher密码在自己的.env中，不上传Git。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38A7B-01AE-42CE-BABF-88C24214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install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setup:course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B46C5-B33F-444A-A451-3CA65FA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检查：提示已创建.env或保留原配置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9A350-E718-4CFD-9BBC-7E32F3B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6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355DC-D318-44EF-B511-20C7A9D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850240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DD43E-4E78-4CA3-94B5-4C9F047A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9499E-B5CC-4BE7-AF59-9A70B041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两个终端的分工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F4A08-F858-4D26-8DE8-BA03A459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/ PowerShell    ｜    位置：P2-course-v3/complete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80DE4-6A70-4EB6-8525-82CB006B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终端A：接口与数据库，保持运行。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终端B：前端与热更新，保持运行。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浏览器打开http://127.0.0.1:5173。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092B1-C5F6-445D-89F9-4383F97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start:api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# 上面在终端A；下面在终端B。CMD不复制这行说明。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85FE5-6023-4F4F-8C17-42B0921F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检查：两个窗口各自持续显示运行状态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3204-13D5-440F-8BED-1B52CB9F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7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AF272-C5DE-44A0-9489-DEF6816B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723215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DC518-6D81-4D5E-8F5C-A92C33B3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68A5-59C0-4BBB-BBCF-2B8C795F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本机随附资源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83427-C89C-4966-9E72-A2ABF630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运行平台：VS Code / 浏览器    ｜    位置：public/media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B20A7-5E6A-4DC6-B74F-7376F241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三个文件均随工程提供，课堂不需要寻找外链。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地址从public之后开始写，不能带public前缀。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数据库记录媒体地址，媒体文件独立保存。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F2E61-1BF2-4DCB-B94E-C76FE333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/media/course-diagram.png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/media/learning-notes.wav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/media/comment-flow.mp4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C7659-58D1-4E90-A6FC-B374503E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检查：浏览器单独打开文件，能够显示或播放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9FEFA-8F85-4E03-8C17-422E950E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8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A1BAD-183E-488D-9456-65B18DC8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2146992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F2671-3BEA-4DC3-BB07-F0D74A22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3853E-EEAA-45E4-9090-BBB373A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任务一：图片标签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5951A-D9D1-4EFD-8279-B3C75A4E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运行平台：Vue模板 / HTML5    ｜    位置：src/components/ArticleMedia.vue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0563E-EAF4-4D8A-B5B2-23719C86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打开src/components/ArticleMedia.vue。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src是资源地址，alt说明图片内容。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loading="lazy"延迟加载不在当前视野的图片。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BA0F4-F654-41F8-8FAE-FD97B36D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&lt;img v-if="item.type === 'image'"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:src="item.url"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:alt="item.alt"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loading="lazy" /&gt;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CC66-7DCF-47DC-9E15-BE9DE2F2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检查：图片显示，缩窄窗口后不溢出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98019-943E-4BAF-BEBB-D5746694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9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D8E72-0CE8-4C40-AEB4-1B0A1F6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16580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120C-2FEC-450C-9A36-3CAD0C2E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972FF-98B0-4FD5-B897-43CB33DB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任务二选项：音频与音乐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2F87D-AD50-4AFA-85EA-B0EDEDE8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运行平台：Vue模板 / HTML5    ｜    位置：src/components/ArticleMedia.vue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02BFB-0BDF-4625-9828-ECA83D14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controls使用浏览器原生播放器。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preload只先读取元数据，用户主动点击播放。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音频可以是音乐，也可以是课程讲解录音。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C84AA-6EF1-48EA-BFF2-22EE9EA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&lt;audio v-if="item.type === 'audio'"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  :src="item.url"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  controls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  preload="metadata" /&gt;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4180E-FFEE-4C3C-A398-A2870DB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检查：点击播放与暂停，播放器有时长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D5F94-E4DC-4274-91A5-955128CD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10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CCA78-79DB-4424-B4B4-53748BD3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013804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EEAA7-7951-4F3E-8A65-CF00607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88419-1448-456D-AF04-DAABF73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任务二选项：视频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152D3-E6D9-4BFF-A3ED-095BFE6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运行平台：Vue模板 / HTML5    ｜    位置：src/components/ArticleMedia.vue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BAC78-F85A-4938-BC95-BEBC5B46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playsinline使手机尽量在页面内播放。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示例为6秒无声演示，文字说明保留学习内容。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常用MP4/H.264，不能只改后缀冒充格式。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09520-D9C7-4E68-AF91-F0BD032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&lt;video v-if="item.type === 'video'"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  :src="item.url"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  controls playsinline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     preload="metadata" /&gt;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8719F-035B-4895-8222-66800D1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检查：可播放、暂停和拖动进度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B27CC-9119-4315-A52F-2FA8845E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11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F96B3-7314-4712-B63F-54E635BB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310282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F4336-F69D-4FAC-9C8B-1795AE9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5A78F-153F-4B67-8139-9635FD00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媒体布局的CSS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63BF6-7077-4BC5-98EB-7526F4C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运行平台：CSS3    ｜    位置：src/course.css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43A06-365E-4883-B30F-EBDCD64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图片与视频宽度跟随文章区域。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object-fit保持比例，限制最大高度。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音频播放器同样适应手机宽度。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6DCD3-5A81-4C83-9B7F-A90402D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.article-media img, .article-media video {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width: 100%;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max-height: 540px;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  object-fit: contain;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}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.article-media audio { width: 100%;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293C1-6944-4EAD-9401-2C743BDD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检查：390像素宽度不出现横向滚动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AADF9-F1D4-41D9-856A-C6454D12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12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22FF7-7C98-4B7E-AAF8-73873D26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6193664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17E38-D525-49FE-9162-D3DBF609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1D1B7-B787-4C28-B5A4-FF3D157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媒体插入与保存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239B6-EAAC-4407-A979-AE523B3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teacher登录后打开管理，编辑文章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FDB1D-4BB8-471D-B380-1988B4B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4623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添加媒体，选择类型并填写资源地址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D90B0-6ED4-42A6-AF9A-06D192B5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6620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图片填写替代文字，填写媒体说明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E2A8E-E512-47C9-B6E5-49C660EC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8617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插在第几段之后，留空则放到文章末尾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56240-0E4C-4483-B7BC-77F0FFE5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0615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保存后打开详情检查，正文空行分段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BA3EF-1D86-42F7-A0E3-E6DB1BE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检查：刷新后仍显示相同媒体与位置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A8D25-5007-4B4E-9A83-D277AB84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13 页    ·    长命令如自动折行，请从配套手册复制完整一行。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AE232-1B0D-460D-823E-3C689199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751195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DF840-ABEF-4FD1-A8AB-F95E347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3A4F0-655A-4E7D-B0CB-0519140F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教师演示：本机文件上传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EDF74-D7CA-4DDB-9305-9EF6626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编辑文章中选择文件，上传后自动填写资源地址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43026-7830-4C6A-8C6A-0C72CCF3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4623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普通读者没有上传权限，教师身份由后端验证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42B61-B8DD-4CF0-8E93-7A85F414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6620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单文件最多40MB，服务器检查声明类型和文件头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9A0AA-870E-4223-BD01-50B223CF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8617"/>
            <a:ext cx="13639800" cy="551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上传文件保存在var/media，不放入Git仓库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2D938-D371-4F11-BE5D-D1BBD743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检查：上传成功后显示/media/uploads/…地址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BC05D-1A12-4172-B521-6CB8D30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14 页    ·    长命令如自动折行，请从配套手册复制完整一行。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A85CE-EDAB-4643-BB90-3708E44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659455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46106-F1DA-4AD8-83AD-63EE4F8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8305C-4A2C-4185-9ED6-BCF13661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数据库记录与文件的分工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16396-6BC1-4E32-B642-B2EED8AA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/ PowerShell    ｜    位置：工程根目录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F57E2-C271-4578-9A9B-4D3F79F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503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course_articles.media_json记录类型、地址和说明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course_comments仍通过外键关联文章与用户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升级时只新增缺少的列，保留已有用户和评论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检查真实数据库，再做一致性备份。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513E7-4EC2-42A9-A5E5-A89D606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6705"/>
            <a:ext cx="1348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db:inspect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db:backup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B635-DCA1-485B-B036-2E1C352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检查：看到三表结构与记录数，备份完整性检查通过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95424-7A85-48CF-93B9-B70C3A1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15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80163-DF72-42FE-8FF7-6B988A9C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8263288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30CCA-9E3B-4B9B-AE03-BE8FC287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DEB6B-DDE4-4E3D-878D-103A5BD4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验收一：注册、评论与媒体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3F09-0F2A-486C-916C-B4988EA7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   ｜    位置：完整工程目录；两个服务运行中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26B60-208D-4825-BCBC-C80EC5E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verify:live读取LIVE_BASE指定的完整网站。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默认访问本机3000接口，完整媒体验收需前端同源网址。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本机前端为5173时，用对应终端设置LIVE_BASE。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3DDAB-2409-4DAC-B9A6-B4644F2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set LIVE_BASE=http://127.0.0.1:5173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verify:live -- 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95E97-2E3F-453A-99DB-5E746B48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检查：注册、评论、越权和媒体检查通过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201C3-CB49-4117-B981-EDB0C6F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16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B941A-688C-47F4-9AC3-0D0ACDC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20791468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9610B-0813-42FA-9351-5ED0A73B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A1F9-43A5-49FE-BC24-76F04B2A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验收二：后端重启与数据保存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EA0E0-FED3-4A73-8DD1-A79664E0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/ PowerShell    ｜    位置：P2-course-v3/complete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2A288-B5EF-41FB-8F4E-98E58885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503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终端A按Ctrl+C停止，再执行npm.cmd run start:api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前端终端保持运行，回到第三个验收终端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after读取重启前的同一条评论并检查，再清理本人留言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先执行before，再实际重启，最后执行after。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3F9F1-1101-4800-BD94-A65DFAF7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6705"/>
            <a:ext cx="1348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npm.cmd run verify:live -- 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9ABAF-C3FF-4A8D-9979-9DB49187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检查：原评论仍然存在，能够由本人删除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25702-1E27-4754-B8DF-446269AF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17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3A9E3-3110-49F9-9A4A-B55AD664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5632958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A8E71-59D9-4477-B83E-014F276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DAE44-AAA0-456D-9A49-47CA34D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Ubuntu部署与验收入口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097EF-AE1F-4407-8709-89646C9A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运行平台：Ubuntu Bash    ｜    位置：已按Ubuntu-deploy.md部署的新项目目录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2A012-BB8C-48FD-AEEC-BEA1933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下面命令在服务器工程目录运行。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先完成SSH连通、Node24、Nginx和独立服务配置。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验收新网站，不能把旧接口可访问当作新版已部署。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89413-F082-4A2E-BD08-F50A38E8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 install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 run setup:course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npm run build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LIVE_BASE=https://你的新域名 npm run verify:live -- before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sudo systemctl restart p2-course-v3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LIVE_BASE=https://你的新域名 npm run verify:live -- 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9042-FEF8-410E-9351-040BB3E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检查：HTTPS访问、权限、媒体与重启保存均通过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3DD1D-6490-447D-93A9-B602B9E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18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DB57B-C10A-44B7-B419-914FB27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8281640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AD063-8D3E-4AB3-A186-285FA255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38112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P2 · 课程博客媒体与验收     第 11 课 · 课堂补充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D95A2-DC87-46F1-8873-2D986BB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Git提交与课堂交付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EF90D-5709-470D-846A-19201A84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37160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运行平台：Windows CMD / PowerShell    ｜    位置：P2-course-v3/complete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D879-A854-4621-A0EA-5B934715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0785"/>
            <a:ext cx="13716000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先确认origin是自己的空仓库。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status检查文件，add暂存，commit建立版本，push上传。</a:t>
            </a:r>
          </a:p>
          <a:p xmlns:a="http://schemas.openxmlformats.org/drawingml/2006/main">
            <a:pPr>
              <a:def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D36"/>
                </a:solidFill>
                <a:latin typeface="Microsoft YaHei"/>
                <a:ea typeface="Microsoft YaHei"/>
                <a:cs typeface="Microsoft YaHei"/>
              </a:rPr>
              <a:t>不要提交.env、var、node_modules或dist。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9690-8D4F-407E-8E7F-75970AE2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9519"/>
            <a:ext cx="13487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 status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 add .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 diff --cached --stat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 commit -m "feat: add article media"</a:t>
            </a:r>
          </a:p>
          <a:p xmlns:a="http://schemas.openxmlformats.org/drawingml/2006/main">
            <a:pPr>
              <a:def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git push -u origin HEAD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1E9D7-E4FF-4198-B3B3-C30F59E1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4D42"/>
                </a:solidFill>
                <a:latin typeface="Microsoft YaHei"/>
                <a:ea typeface="Microsoft YaHei"/>
                <a:cs typeface="Microsoft YaHei"/>
              </a:rPr>
              <a:t>检查：自己的远程仓库能看到本次修改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ADC7C-0D58-4A9D-A346-D474131D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39100"/>
            <a:ext cx="12287250" cy="358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65D"/>
                </a:solidFill>
                <a:latin typeface="Microsoft YaHei"/>
                <a:ea typeface="Microsoft YaHei"/>
                <a:cs typeface="Microsoft YaHei"/>
              </a:rPr>
              <a:t>完成后回到第 18 页    ·    长命令如自动折行，请从配套手册复制完整一行。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6AC4A-389A-4476-88BC-ABB1C00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428750" cy="384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06445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596024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2026-09-18T14:36:08.9430000Z</dcterms:created>
  <dcterms:modified xsi:type="dcterms:W3CDTF">2026-09-18T14:36:08.9430000Z</dcterms:modified>
</coreProperties>
</file>